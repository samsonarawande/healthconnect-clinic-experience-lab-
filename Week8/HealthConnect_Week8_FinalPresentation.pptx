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864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F3864"/>
                </a:solidFill>
                <a:latin typeface="Calibri"/>
              </a:rPr>
              <a:t>Appointment Outcome Breakdown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7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32C-4453-B37E-07EB3321A1D7}"/>
              </c:ext>
            </c:extLst>
          </c:dPt>
          <c:dPt>
            <c:idx val="1"/>
            <c:bubble3D val="0"/>
            <c:spPr>
              <a:solidFill>
                <a:srgbClr val="5DCA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2C-4453-B37E-07EB3321A1D7}"/>
              </c:ext>
            </c:extLst>
          </c:dPt>
          <c:dPt>
            <c:idx val="2"/>
            <c:bubble3D val="0"/>
            <c:spPr>
              <a:solidFill>
                <a:srgbClr val="B4B2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32C-4453-B37E-07EB3321A1D7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32C-4453-B37E-07EB3321A1D7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32C-4453-B37E-07EB3321A1D7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32C-4453-B37E-07EB3321A1D7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No-Show</c:v>
                </c:pt>
                <c:pt idx="1">
                  <c:v>Attended</c:v>
                </c:pt>
                <c:pt idx="2">
                  <c:v>Cancelled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48.46</c:v>
                </c:pt>
                <c:pt idx="1">
                  <c:v>46.28</c:v>
                </c:pt>
                <c:pt idx="2">
                  <c:v>5.26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32C-4453-B37E-07EB3321A1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0-7d</c:v>
                </c:pt>
                <c:pt idx="1">
                  <c:v>8-14d</c:v>
                </c:pt>
                <c:pt idx="2">
                  <c:v>15-30d</c:v>
                </c:pt>
                <c:pt idx="3">
                  <c:v>31-45d</c:v>
                </c:pt>
                <c:pt idx="4">
                  <c:v>46-60d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27.81</c:v>
                </c:pt>
                <c:pt idx="1">
                  <c:v>33.549999999999997</c:v>
                </c:pt>
                <c:pt idx="2">
                  <c:v>43.21</c:v>
                </c:pt>
                <c:pt idx="3">
                  <c:v>53.82</c:v>
                </c:pt>
                <c:pt idx="4">
                  <c:v>67.69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C5-41A0-BC61-C907A660B1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43.51</c:v>
                </c:pt>
                <c:pt idx="1">
                  <c:v>53.49</c:v>
                </c:pt>
                <c:pt idx="2">
                  <c:v>59.36</c:v>
                </c:pt>
                <c:pt idx="3">
                  <c:v>67.95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9B-4FDA-9B96-0C43E3F930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096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HealthConnect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Analysis — Final Decision Support Presentation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Samson Arawande  |  Data Analytics Track  |  AnalystLab Africa 2026 Experience Lab  |  Week 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2 scheduled appointments never happen.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2062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651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48.46%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03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appointments end in a no-show</a:t>
            </a:r>
            <a:endParaRPr lang="en-US" sz="15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212080" y="1554480"/>
          <a:ext cx="63093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— AnalystLab Africa — Week 8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No-Shows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age. Not gender. Not the day of the week.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Lead Time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27.81%  →  67.69%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0–7 days out                     46–60 days out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914400" y="3383280"/>
          <a:ext cx="46634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914400" y="5989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364.81, p &lt; 0.001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173736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No-Show History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377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43.51%  →  67.95%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2971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prior no-shows                  3+ prior no-shows</a:t>
            </a:r>
            <a:endParaRPr lang="en-US" sz="11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6583680" y="3383280"/>
          <a:ext cx="46634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6583680" y="5989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80.71, p &lt; 0.001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— AnalystLab Africa — Week 8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Two Factors Combine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expected the risks to multiply into something extreme. They didn't.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Prediction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~87%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Rate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3774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91.30%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lead time + 3+ prior no-shows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7772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87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5262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risks stack — they don't multiply.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02920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HealthConnect can flag its highest-risk patients using a simple, transparent risk score — no complicated model required.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— AnalystLab Africa — Week 8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Tested, fixed, and validated across every project document.</a:t>
            </a:r>
            <a:endParaRPr lang="en-US" sz="1500" dirty="0"/>
          </a:p>
        </p:txBody>
      </p:sp>
      <p:pic>
        <p:nvPicPr>
          <p:cNvPr id="4" name="Image 0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446" y="1463040"/>
            <a:ext cx="8664060" cy="4892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— AnalystLab Africa — Week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Doesn't Move the Needle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and confirmed — not assumed.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EDED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Type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~4.6pt spread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EDED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~3.9pt spread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EDED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383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~1.6pt spread — weakest signal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EDED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~5.6pt spread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EDED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937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~5.2pt spread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0" y="18288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1F386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6676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260604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“no” is still a finding. It tells HealthConnect exactly where not to spend limited resources.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— AnalystLab Africa — Week 8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prioritized, evidence-backed actions.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39112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933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confirmation touchpoint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0428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appointments booked 30+ days in advance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935224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88950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“high-priority outreach”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200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2+ prior no-shows AND a 30+ day lead 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1246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831336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7856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as the default reminder channel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0965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clinic-wide — the one fully controllable lever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0857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727448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6817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telehealth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99262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lower-acuity appointments, 20+ km patients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0468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62356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5577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Deprioritise demographic targeting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588873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effort to the four recommendations above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— AnalystLab Africa — Week 8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Cross-Track Collaboration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two-way exchange with the Data Science track — not a one-off handoff.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33172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204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validated findings package — feature priorities, data-quality flags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35661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37560" y="21031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33172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891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6→7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5204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their model's error patterns and 7 specific validation requests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35661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21031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78040" y="233172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5204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all 7 concerns with statistical significance tests; sent evidence-based answers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35661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15400" y="21031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F3864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66960" y="2331720"/>
            <a:ext cx="548640" cy="54864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669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09828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0" y="35204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feature engineering decisions were directly shaped by validated Data Analytics findings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— AnalystLab Africa — Week 8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measurable, statistically confirmed factors drive most preventable no-shows. They combine predictably. HealthConnect already has a low-cost lever — SMS reminders — it can deploy today.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Samson Arawande  |  Data Analytics Track  |  AnalystLab Africa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530</Words>
  <Application>Microsoft Office PowerPoint</Application>
  <PresentationFormat>Widescreen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Samson Arawande</cp:lastModifiedBy>
  <cp:revision>2</cp:revision>
  <dcterms:created xsi:type="dcterms:W3CDTF">2026-09-25T07:26:33Z</dcterms:created>
  <dcterms:modified xsi:type="dcterms:W3CDTF">2026-09-26T20:07:01Z</dcterms:modified>
</cp:coreProperties>
</file>